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6858000"/>
          </a:xfrm>
          <a:prstGeom prst="rect">
            <a:avLst/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5413248" y="685800"/>
            <a:ext cx="1371600" cy="1280160"/>
          </a:xfrm>
          <a:prstGeom prst="hexagon">
            <a:avLst/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B641"/>
                </a:solidFill>
                <a:latin typeface="Segoe UI"/>
              </a:rPr>
              <a:t>INTERNSHIP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Secure Login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B9C8DC"/>
                </a:solidFill>
                <a:latin typeface="Segoe UI"/>
              </a:rPr>
              <a:t>Hardened Web Authentication — bcrypt • 2FA/TOTP • Rate Limiting • Session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4572000"/>
            <a:ext cx="4800600" cy="1905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48006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641"/>
                </a:solidFill>
                <a:latin typeface="Segoe U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8006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Priyanshu Pandey  •  Roll No. 25SCS100300539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202936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641"/>
                </a:solidFill>
                <a:latin typeface="Segoe UI"/>
              </a:rPr>
              <a:t>PROGRAMME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520293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B.Tech CSE  •  Batch 2CSE24  •  2026–27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60527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641"/>
                </a:solidFill>
                <a:latin typeface="Segoe UI"/>
              </a:rPr>
              <a:t>INSTITUTION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56052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School of Computer Science &amp; Engineering, IILM University, Greater Noida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60076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641"/>
                </a:solidFill>
                <a:latin typeface="Segoe UI"/>
              </a:rPr>
              <a:t>INTERNSHIP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600760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Cyber Security  •  Thiranex (Skill Development &amp; Future Tech)  •  2 Aug – 1 Sept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Presentation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Segoe UI"/>
              </a:rPr>
              <a:t>Secure Login System  •  Cyber Security Internship  •  Thiranex  •  Aug–Sept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/>
          <a:lstStyle/>
          <a:p>
            <a:pPr algn="ctr"/>
            <a:r>
              <a:rPr sz="2200" b="1">
                <a:solidFill>
                  <a:srgbClr val="1F6FC4"/>
                </a:solidFill>
                <a:latin typeface="Segoe UI"/>
              </a:rPr>
              <a:t>01  </a:t>
            </a:r>
            <a:r>
              <a:rPr sz="1800" b="1">
                <a:solidFill>
                  <a:srgbClr val="0B1F3A"/>
                </a:solidFill>
                <a:latin typeface="Segoe UI"/>
              </a:rPr>
              <a:t>Internship Overview</a:t>
            </a:r>
            <a:r>
              <a:rPr sz="1400">
                <a:solidFill>
                  <a:srgbClr val="555F6B"/>
                </a:solidFill>
                <a:latin typeface="Segoe UI"/>
              </a:rPr>
              <a:t> — Thiranex organization &amp; certificate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70632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/>
          <a:lstStyle/>
          <a:p>
            <a:pPr algn="ctr"/>
            <a:r>
              <a:rPr sz="2200" b="1">
                <a:solidFill>
                  <a:srgbClr val="1F6FC4"/>
                </a:solidFill>
                <a:latin typeface="Segoe UI"/>
              </a:rPr>
              <a:t>02  </a:t>
            </a:r>
            <a:r>
              <a:rPr sz="1800" b="1">
                <a:solidFill>
                  <a:srgbClr val="0B1F3A"/>
                </a:solidFill>
                <a:latin typeface="Segoe UI"/>
              </a:rPr>
              <a:t>Problem Statement</a:t>
            </a:r>
            <a:r>
              <a:rPr sz="1400">
                <a:solidFill>
                  <a:srgbClr val="555F6B"/>
                </a:solidFill>
                <a:latin typeface="Segoe UI"/>
              </a:rPr>
              <a:t> — why secure authentication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41064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/>
          <a:lstStyle/>
          <a:p>
            <a:pPr algn="ctr"/>
            <a:r>
              <a:rPr sz="2200" b="1">
                <a:solidFill>
                  <a:srgbClr val="1F6FC4"/>
                </a:solidFill>
                <a:latin typeface="Segoe UI"/>
              </a:rPr>
              <a:t>03  </a:t>
            </a:r>
            <a:r>
              <a:rPr sz="1800" b="1">
                <a:solidFill>
                  <a:srgbClr val="0B1F3A"/>
                </a:solidFill>
                <a:latin typeface="Segoe UI"/>
              </a:rPr>
              <a:t>Objectives &amp; Scope</a:t>
            </a:r>
            <a:r>
              <a:rPr sz="1400">
                <a:solidFill>
                  <a:srgbClr val="555F6B"/>
                </a:solidFill>
                <a:latin typeface="Segoe UI"/>
              </a:rPr>
              <a:t> — what the project set out to achieve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11496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/>
          <a:lstStyle/>
          <a:p>
            <a:pPr algn="ctr"/>
            <a:r>
              <a:rPr sz="2200" b="1">
                <a:solidFill>
                  <a:srgbClr val="1F6FC4"/>
                </a:solidFill>
                <a:latin typeface="Segoe UI"/>
              </a:rPr>
              <a:t>04  </a:t>
            </a:r>
            <a:r>
              <a:rPr sz="1800" b="1">
                <a:solidFill>
                  <a:srgbClr val="0B1F3A"/>
                </a:solidFill>
                <a:latin typeface="Segoe UI"/>
              </a:rPr>
              <a:t>Technologies &amp; Tools</a:t>
            </a:r>
            <a:r>
              <a:rPr sz="1400">
                <a:solidFill>
                  <a:srgbClr val="555F6B"/>
                </a:solidFill>
                <a:latin typeface="Segoe UI"/>
              </a:rPr>
              <a:t> — the full security stack used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/>
          <a:lstStyle/>
          <a:p>
            <a:pPr algn="ctr"/>
            <a:r>
              <a:rPr sz="2200" b="1">
                <a:solidFill>
                  <a:srgbClr val="1F6FC4"/>
                </a:solidFill>
                <a:latin typeface="Segoe UI"/>
              </a:rPr>
              <a:t>05  </a:t>
            </a:r>
            <a:r>
              <a:rPr sz="1800" b="1">
                <a:solidFill>
                  <a:srgbClr val="0B1F3A"/>
                </a:solidFill>
                <a:latin typeface="Segoe UI"/>
              </a:rPr>
              <a:t>System Architecture</a:t>
            </a:r>
            <a:r>
              <a:rPr sz="1400">
                <a:solidFill>
                  <a:srgbClr val="555F6B"/>
                </a:solidFill>
                <a:latin typeface="Segoe UI"/>
              </a:rPr>
              <a:t> — layered defence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70632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/>
          <a:lstStyle/>
          <a:p>
            <a:pPr algn="ctr"/>
            <a:r>
              <a:rPr sz="2200" b="1">
                <a:solidFill>
                  <a:srgbClr val="1F6FC4"/>
                </a:solidFill>
                <a:latin typeface="Segoe UI"/>
              </a:rPr>
              <a:t>06  </a:t>
            </a:r>
            <a:r>
              <a:rPr sz="1800" b="1">
                <a:solidFill>
                  <a:srgbClr val="0B1F3A"/>
                </a:solidFill>
                <a:latin typeface="Segoe UI"/>
              </a:rPr>
              <a:t>Methodology</a:t>
            </a:r>
            <a:r>
              <a:rPr sz="1400">
                <a:solidFill>
                  <a:srgbClr val="555F6B"/>
                </a:solidFill>
                <a:latin typeface="Segoe UI"/>
              </a:rPr>
              <a:t> — 5-step security implementation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41064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/>
          <a:lstStyle/>
          <a:p>
            <a:pPr algn="ctr"/>
            <a:r>
              <a:rPr sz="2200" b="1">
                <a:solidFill>
                  <a:srgbClr val="1F6FC4"/>
                </a:solidFill>
                <a:latin typeface="Segoe UI"/>
              </a:rPr>
              <a:t>07  </a:t>
            </a:r>
            <a:r>
              <a:rPr sz="1800" b="1">
                <a:solidFill>
                  <a:srgbClr val="0B1F3A"/>
                </a:solidFill>
                <a:latin typeface="Segoe UI"/>
              </a:rPr>
              <a:t>Expected Outcomes &amp; Results</a:t>
            </a:r>
            <a:r>
              <a:rPr sz="1400">
                <a:solidFill>
                  <a:srgbClr val="555F6B"/>
                </a:solidFill>
                <a:latin typeface="Segoe UI"/>
              </a:rPr>
              <a:t> — measurable security guarantees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5111496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/>
          <a:lstStyle/>
          <a:p>
            <a:pPr algn="ctr"/>
            <a:r>
              <a:rPr sz="2200" b="1">
                <a:solidFill>
                  <a:srgbClr val="1F6FC4"/>
                </a:solidFill>
                <a:latin typeface="Segoe UI"/>
              </a:rPr>
              <a:t>08  </a:t>
            </a:r>
            <a:r>
              <a:rPr sz="1800" b="1">
                <a:solidFill>
                  <a:srgbClr val="0B1F3A"/>
                </a:solidFill>
                <a:latin typeface="Segoe UI"/>
              </a:rPr>
              <a:t>Conclusion &amp; References</a:t>
            </a:r>
            <a:r>
              <a:rPr sz="1400">
                <a:solidFill>
                  <a:srgbClr val="555F6B"/>
                </a:solidFill>
                <a:latin typeface="Segoe UI"/>
              </a:rPr>
              <a:t> — key 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Internship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9C8DC"/>
                </a:solidFill>
                <a:latin typeface="Segoe UI"/>
              </a:rPr>
              <a:t>Thiranex — Skill Development &amp; Future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Segoe UI"/>
              </a:rPr>
              <a:t>Secure Login System  •  Cyber Security Internship  •  Thiranex  •  Aug–Sept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6751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6FC4"/>
                </a:solidFill>
                <a:latin typeface="Segoe UI"/>
              </a:rPr>
              <a:t>About the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6126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C4"/>
                </a:solidFill>
                <a:latin typeface="Segoe UI"/>
              </a:rPr>
              <a:t>▸ EdTech organization </a:t>
            </a:r>
            <a:r>
              <a:rPr sz="1500">
                <a:solidFill>
                  <a:srgbClr val="0B1F3A"/>
                </a:solidFill>
                <a:latin typeface="Segoe UI"/>
              </a:rPr>
              <a:t>focused on practical, hands-on skill development in emerging technologies.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C4"/>
                </a:solidFill>
                <a:latin typeface="Segoe UI"/>
              </a:rPr>
              <a:t>▸ Key domains: </a:t>
            </a:r>
            <a:r>
              <a:rPr sz="1500">
                <a:solidFill>
                  <a:srgbClr val="0B1F3A"/>
                </a:solidFill>
                <a:latin typeface="Segoe UI"/>
              </a:rPr>
              <a:t>Cyber Security, Cloud Solutions, and Software Engineering.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C4"/>
                </a:solidFill>
                <a:latin typeface="Segoe UI"/>
              </a:rPr>
              <a:t>▸ Model: </a:t>
            </a:r>
            <a:r>
              <a:rPr sz="1500">
                <a:solidFill>
                  <a:srgbClr val="0B1F3A"/>
                </a:solidFill>
                <a:latin typeface="Segoe UI"/>
              </a:rPr>
              <a:t>project-based learning with industry mentorship.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C4"/>
                </a:solidFill>
                <a:latin typeface="Segoe UI"/>
              </a:rPr>
              <a:t>▸ Internship role: </a:t>
            </a:r>
            <a:r>
              <a:rPr sz="1500">
                <a:solidFill>
                  <a:srgbClr val="0B1F3A"/>
                </a:solidFill>
                <a:latin typeface="Segoe UI"/>
              </a:rPr>
              <a:t>Cyber Security Intern — designed and built a production-grade secure login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63040"/>
            <a:ext cx="4160520" cy="44805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B641"/>
                </a:solidFill>
                <a:latin typeface="Segoe UI"/>
              </a:rPr>
              <a:t>Internship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4884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Segoe UI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21488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2 Aug – 1 Sept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7919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Segoe UI"/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6791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Cyber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09544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Segoe UI"/>
              </a:rPr>
              <a:t>CERTIFICATE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20954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THX-AUG0226-129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739896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Segoe UI"/>
              </a:rPr>
              <a:t>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73989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Secure Login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27024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Segoe UI"/>
              </a:rPr>
              <a:t>MENTOR / SIGNATORY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27024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Hariharan M, Founder &amp; CEO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006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Segoe UI"/>
              </a:rP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8006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✔ Completed &amp; Certified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5486400"/>
            <a:ext cx="3520440" cy="127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9C8DC"/>
                </a:solidFill>
                <a:latin typeface="Segoe UI"/>
              </a:rPr>
              <a:t>Why standard login portals are a prime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Segoe UI"/>
              </a:rPr>
              <a:t>Secure Login System  •  Cyber Security Internship  •  Thiranex  •  Aug–Sept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52578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>
                <a:solidFill>
                  <a:srgbClr val="FFFFFF"/>
                </a:solidFill>
                <a:latin typeface="Segoe UI"/>
              </a:rPr>
              <a:t>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80136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SQL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221991"/>
            <a:ext cx="3977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Segoe UI"/>
              </a:rPr>
              <a:t>Unparameterized queries let attackers bypass authentication or dump entire user databases.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508760"/>
            <a:ext cx="52578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17830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>
                <a:solidFill>
                  <a:srgbClr val="FFFFFF"/>
                </a:solidFill>
                <a:latin typeface="Segoe UI"/>
              </a:rPr>
              <a:t>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80136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Plaintext / Weak Credentials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221991"/>
            <a:ext cx="3977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Segoe UI"/>
              </a:rPr>
              <a:t>Storing passwords in plaintext or with weak hashing exposes accounts when databases leak.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52578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0690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08736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Brute-Force &amp; Credential Stuffing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507992"/>
            <a:ext cx="3977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Segoe UI"/>
              </a:rPr>
              <a:t>Automated bots hammer login endpoints with password dictionaries and stolen combos.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794760"/>
            <a:ext cx="52578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40690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0">
                <a:solidFill>
                  <a:srgbClr val="FFFFFF"/>
                </a:solidFill>
                <a:latin typeface="Segoe UI"/>
              </a:rPr>
              <a:t>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08736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Session Hijacking &amp; Fixation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507992"/>
            <a:ext cx="3977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Segoe UI"/>
              </a:rPr>
              <a:t>Weak session tokens and missing cookie flags enable credential sniffing and account takeover.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9C8DC"/>
                </a:solidFill>
                <a:latin typeface="Segoe UI"/>
              </a:rPr>
              <a:t>Five security goals driving the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Segoe UI"/>
              </a:rPr>
              <a:t>Secure Login System  •  Cyber Security Internship  •  Thiranex  •  Aug–Sept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108356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4630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4630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Strong Password Hashing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463040"/>
            <a:ext cx="5852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555F6B"/>
                </a:solidFill>
                <a:latin typeface="Segoe UI"/>
              </a:rPr>
              <a:t>Implement bcrypt with salt generation to make stolen hashes useless to attackers.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50592"/>
            <a:ext cx="108356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450592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450592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SQL Injection Elimination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450592"/>
            <a:ext cx="5852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555F6B"/>
                </a:solidFill>
                <a:latin typeface="Segoe UI"/>
              </a:rPr>
              <a:t>Robust server-side validation + parameterized prepared statements on every query.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38144"/>
            <a:ext cx="108356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438144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438144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Secure Session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438144"/>
            <a:ext cx="5852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555F6B"/>
                </a:solidFill>
                <a:latin typeface="Segoe UI"/>
              </a:rPr>
              <a:t>HttpOnly, Secure, SameSite cookies; session-ID regeneration; explicit logout.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25696"/>
            <a:ext cx="108356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425696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425696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Two-Factor Authentication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425696"/>
            <a:ext cx="5852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555F6B"/>
                </a:solidFill>
                <a:latin typeface="Segoe UI"/>
              </a:rPr>
              <a:t>RFC 6238 TOTP (Google/Microsoft Authenticator, Authy) via dynamic QR codes.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13248"/>
            <a:ext cx="108356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5413248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413248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Segoe UI"/>
              </a:rPr>
              <a:t>Brute-Force Mitigation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413248"/>
            <a:ext cx="5852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555F6B"/>
                </a:solidFill>
                <a:latin typeface="Segoe UI"/>
              </a:rPr>
              <a:t>IP-based rate limiting on authentication endpoints to throttle automated attacks.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Scope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9C8DC"/>
                </a:solidFill>
                <a:latin typeface="Segoe UI"/>
              </a:rPr>
              <a:t>Everything covered by the Secure Login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Segoe UI"/>
              </a:rPr>
              <a:t>Secure Login System  •  Cyber Security Internship  •  Thiranex  •  Aug–Sept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109728" cy="1188720"/>
          </a:xfrm>
          <a:prstGeom prst="rect">
            <a:avLst/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2821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Segoe UI"/>
              </a:rPr>
              <a:t>Backend Auth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67128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Segoe UI"/>
              </a:rPr>
              <a:t>Registration &amp; login endpoints, credential verification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9728" cy="1188720"/>
          </a:xfrm>
          <a:prstGeom prst="rect">
            <a:avLst/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4553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Segoe UI"/>
              </a:rPr>
              <a:t>Database Access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84448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Segoe UI"/>
              </a:rPr>
              <a:t>Relational storage with parameterized queries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434840"/>
            <a:ext cx="109728" cy="1188720"/>
          </a:xfrm>
          <a:prstGeom prst="rect">
            <a:avLst/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56285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Segoe UI"/>
              </a:rPr>
              <a:t>Crypto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001768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Segoe UI"/>
              </a:rPr>
              <a:t>bcrypt hashing + salting of user passwords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0020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600200"/>
            <a:ext cx="109728" cy="1188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72821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Segoe UI"/>
              </a:rPr>
              <a:t>Session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167128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Segoe UI"/>
              </a:rPr>
              <a:t>Creation, fixation countermeasures, expiry &amp; logout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01752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017520"/>
            <a:ext cx="109728" cy="1188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14553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Segoe UI"/>
              </a:rPr>
              <a:t>2FA / TOTP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584448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Segoe UI"/>
              </a:rPr>
              <a:t>Secret generation, QR binding &amp; token validation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43484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434840"/>
            <a:ext cx="109728" cy="1188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56285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Segoe UI"/>
              </a:rPr>
              <a:t>Security Audit Logging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001768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Segoe UI"/>
              </a:rPr>
              <a:t>Event trails for authentication &amp; security actions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989320"/>
            <a:ext cx="10835640" cy="914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5806440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4B641"/>
                </a:solidFill>
                <a:latin typeface="Segoe UI"/>
              </a:rPr>
              <a:t>Hosted live on Vercel Serverless Platform  —  secure-login-system-server.vercel.app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Technologies &amp;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9C8DC"/>
                </a:solidFill>
                <a:latin typeface="Segoe UI"/>
              </a:rPr>
              <a:t>Full-stack security toolchain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Segoe UI"/>
              </a:rPr>
              <a:t>Secure Login System  •  Cyber Security Internship  •  Thiranex  •  Aug–Sept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63040"/>
            <a:ext cx="21488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2148840" cy="566928"/>
          </a:xfrm>
          <a:prstGeom prst="rect">
            <a:avLst/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Frontend &amp; 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12848"/>
            <a:ext cx="1874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HTML5 / CSS3 / JavaScript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Vercel Serverless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463040"/>
            <a:ext cx="21488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9192" y="1463040"/>
            <a:ext cx="2148840" cy="5669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Backend &amp;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3784" y="2212848"/>
            <a:ext cx="1874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Node.js + Express.js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SQLite (node:sqlite)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Parameterized prepared statements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46904" y="1463040"/>
            <a:ext cx="21488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46904" y="1463040"/>
            <a:ext cx="2148840" cy="566928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Cryptography &amp; 2FA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212848"/>
            <a:ext cx="1874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bcryptjs — salted hashing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Speakeasy — RFC 6238 TOTP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QRCode — authenticator binding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14616" y="1463040"/>
            <a:ext cx="23774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14616" y="1463040"/>
            <a:ext cx="2377440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Defence Middleware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2212848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Helmet — CSP, anti-clickjacking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Express-Rate-Limit — brute-force throttle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Validator.js — input sanitization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1463040"/>
            <a:ext cx="24688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0928" y="1463040"/>
            <a:ext cx="2468880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Testing &amp;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212848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Node.js automated security suite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Postman API testing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OWASP ZAP vulnerability 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9C8DC"/>
                </a:solidFill>
                <a:latin typeface="Segoe UI"/>
              </a:rPr>
              <a:t>Layered defence-in-depth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Segoe UI"/>
              </a:rPr>
              <a:t>Secure Login System  •  Cyber Security Internship  •  Thiranex  •  Aug–Sept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554480"/>
            <a:ext cx="96012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1554480"/>
            <a:ext cx="2651760" cy="932688"/>
          </a:xfrm>
          <a:prstGeom prst="rect">
            <a:avLst/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CLIENT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554480"/>
            <a:ext cx="64922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0B1F3A"/>
                </a:solidFill>
                <a:latin typeface="Segoe UI"/>
              </a:rPr>
              <a:t>UI accepting login &amp; registration inputs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06440" y="2468880"/>
            <a:ext cx="548640" cy="320040"/>
          </a:xfrm>
          <a:prstGeom prst="down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2816352"/>
            <a:ext cx="96012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0160" y="2816352"/>
            <a:ext cx="2651760" cy="93268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VALIDATION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816352"/>
            <a:ext cx="64922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0B1F3A"/>
                </a:solidFill>
                <a:latin typeface="Segoe UI"/>
              </a:rPr>
              <a:t>Sanitization middleware — blocks malicious scripts &amp; parameter tampering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06440" y="3730752"/>
            <a:ext cx="548640" cy="320040"/>
          </a:xfrm>
          <a:prstGeom prst="down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80160" y="4078224"/>
            <a:ext cx="96012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0160" y="4078224"/>
            <a:ext cx="2651760" cy="932688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AUTHENTICATION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078224"/>
            <a:ext cx="64922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0B1F3A"/>
                </a:solidFill>
                <a:latin typeface="Segoe UI"/>
              </a:rPr>
              <a:t>bcrypt salted-hash verification + TOTP 2FA validation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806440" y="4992624"/>
            <a:ext cx="548640" cy="320040"/>
          </a:xfrm>
          <a:prstGeom prst="down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80160" y="5340096"/>
            <a:ext cx="96012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0160" y="5340096"/>
            <a:ext cx="2651760" cy="93268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DATABASE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5340096"/>
            <a:ext cx="64922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0B1F3A"/>
                </a:solidFill>
                <a:latin typeface="Segoe UI"/>
              </a:rPr>
              <a:t>SQLite storage — parameterized user metadata &amp; hashed credentials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554480"/>
            <a:ext cx="1417320" cy="468172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B641"/>
                </a:solidFill>
                <a:latin typeface="Segoe UI"/>
              </a:rPr>
              <a:t>SECURE
BY
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9C8DC"/>
                </a:solidFill>
                <a:latin typeface="Segoe UI"/>
              </a:rPr>
              <a:t>Five-step security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Segoe UI"/>
              </a:rPr>
              <a:t>Secure Login System  •  Cyber Security Internship  •  Thiranex  •  Aug–Sept 2026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572768"/>
            <a:ext cx="685800" cy="685800"/>
          </a:xfrm>
          <a:prstGeom prst="ellipse">
            <a:avLst/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2286000"/>
            <a:ext cx="27940" cy="256032"/>
          </a:xfrm>
          <a:prstGeom prst="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91640" y="1463040"/>
            <a:ext cx="97840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536192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Segoe UI"/>
              </a:rPr>
              <a:t>Input Sanitization &amp; Parameterization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536192"/>
            <a:ext cx="5303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55F6B"/>
                </a:solidFill>
                <a:latin typeface="Segoe UI"/>
              </a:rPr>
              <a:t>Strict regex constraints, email normalization, and strictly parameterized SQL queries — SQLi fully neutralized.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551176"/>
            <a:ext cx="685800" cy="6858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264408"/>
            <a:ext cx="27940" cy="256032"/>
          </a:xfrm>
          <a:prstGeom prst="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91640" y="2441448"/>
            <a:ext cx="97840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251460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Segoe UI"/>
              </a:rPr>
              <a:t>Password Hashing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14600"/>
            <a:ext cx="5303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55F6B"/>
                </a:solidFill>
                <a:latin typeface="Segoe UI"/>
              </a:rPr>
              <a:t>bcrypt with work factor 12 (4,096 iterations) + individual salts — defeats dictionary &amp; rainbow-table attacks.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529584"/>
            <a:ext cx="685800" cy="685800"/>
          </a:xfrm>
          <a:prstGeom prst="ellipse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" y="4242816"/>
            <a:ext cx="27940" cy="256032"/>
          </a:xfrm>
          <a:prstGeom prst="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1640" y="3419856"/>
            <a:ext cx="97840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49300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Segoe UI"/>
              </a:rPr>
              <a:t>Session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493008"/>
            <a:ext cx="5303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55F6B"/>
                </a:solidFill>
                <a:latin typeface="Segoe UI"/>
              </a:rPr>
              <a:t>Cryptographically random session IDs; HttpOnly + SameSite=Lax cookies; ID regeneration on login — kills session fixation.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507992"/>
            <a:ext cx="685800" cy="68580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" y="5221224"/>
            <a:ext cx="27940" cy="256032"/>
          </a:xfrm>
          <a:prstGeom prst="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91640" y="4398264"/>
            <a:ext cx="97840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4471416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Segoe UI"/>
              </a:rPr>
              <a:t>Two-Factor Authentication (2FA)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471416"/>
            <a:ext cx="5303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55F6B"/>
                </a:solidFill>
                <a:latin typeface="Segoe UI"/>
              </a:rPr>
              <a:t>RFC 6238 TOTP with dynamic QR codes binding Google/Microsoft Authenticator &amp; Authy.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5486400"/>
            <a:ext cx="685800" cy="6858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1640" y="5376672"/>
            <a:ext cx="97840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5449824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Segoe UI"/>
              </a:rPr>
              <a:t>Defense-in-Depth Hardening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449824"/>
            <a:ext cx="5303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55F6B"/>
                </a:solidFill>
                <a:latin typeface="Segoe UI"/>
              </a:rPr>
              <a:t>Helmet headers (X-Frame-Options: DENY, CSP) + IP-based rate limiting on sensitive endpoints.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Expected Outcomes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9C8DC"/>
                </a:solidFill>
                <a:latin typeface="Segoe UI"/>
              </a:rPr>
              <a:t>A production-ready hardened authentication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Segoe UI"/>
              </a:rPr>
              <a:t>Secure Login System  •  Cyber Security Internship  •  Thiranex  •  Aug–Sept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764792"/>
            <a:ext cx="566928" cy="5669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41448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B1F3A"/>
                </a:solidFill>
                <a:latin typeface="Segoe UI"/>
              </a:rPr>
              <a:t>Unauthorized access mitigated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99008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Every login verified by bcrypt hash + optional TOTP second factor.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5087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1764792"/>
            <a:ext cx="566928" cy="5669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41448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B1F3A"/>
                </a:solidFill>
                <a:latin typeface="Segoe UI"/>
              </a:rPr>
              <a:t>Injection-resistant 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9008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100% parameterized queries — SQL Injection vectors eliminated.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5087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7" y="1764792"/>
            <a:ext cx="566928" cy="5669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441448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B1F3A"/>
                </a:solidFill>
                <a:latin typeface="Segoe UI"/>
              </a:rPr>
              <a:t>Session hijacking prevented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99008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Regenerated IDs, HttpOnly/Secure/SameSite flags block fixation &amp; XSS theft.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64608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B1F3A"/>
                </a:solidFill>
                <a:latin typeface="Segoe UI"/>
              </a:rPr>
              <a:t>Brute-force throttled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41324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IP-based rate limiting caps automated guessing on auth endpoints.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39319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0" y="4187952"/>
            <a:ext cx="566928" cy="5669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864608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B1F3A"/>
                </a:solidFill>
                <a:latin typeface="Segoe UI"/>
              </a:rPr>
              <a:t>Safe credential lifecycle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41324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Only salted hashes ever stored; secure registration, 2FA &amp; logout flows.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39319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39327" y="4187952"/>
            <a:ext cx="566928" cy="5669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864608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B1F3A"/>
                </a:solidFill>
                <a:latin typeface="Segoe UI"/>
              </a:rPr>
              <a:t>Verified by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541324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Automated Node.js security suite, Postman tests &amp; OWASP ZAP scan.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Conclusion &amp; Key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Segoe UI"/>
              </a:rPr>
              <a:t>Secure Login System  •  Cyber Security Internship  •  Thiranex  •  Aug–Sept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029200" cy="44805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B641"/>
                </a:solidFill>
                <a:latin typeface="Segoe U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434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Segoe UI"/>
              </a:rPr>
              <a:t>▸ Built a production-grade secure login system from scratch.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Segoe UI"/>
              </a:rPr>
              <a:t>▸ Layered defence: hashing, parameterization, sessions, 2FA, rate limiting.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Segoe UI"/>
              </a:rPr>
              <a:t>▸ Aligned with OWASP Top 10 and NIST 800-63B guidance.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Segoe UI"/>
              </a:rPr>
              <a:t>▸ Deployed live on Vercel and validated with automated + ZAP testing.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Segoe UI"/>
              </a:rPr>
              <a:t>▸ Gained hands-on expertise across the full secure-auth 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58064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6916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6FC4"/>
                </a:solidFill>
                <a:latin typeface="Segoe UI"/>
              </a:rP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OWASP Foundation — OWASP Top Ten Web Application Security Risks (2021).</a:t>
            </a:r>
          </a:p>
          <a:p>
            <a:pPr>
              <a:spcAft>
                <a:spcPts val="11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NIST SP 800-63B — Digital Identity Guidelines: Authentication &amp; Lifecycle Mgmt (2020).</a:t>
            </a:r>
          </a:p>
          <a:p>
            <a:pPr>
              <a:spcAft>
                <a:spcPts val="11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IETF RFC 6238 — TOTP: Time-Based One-Time Password Algorithm (2011).</a:t>
            </a:r>
          </a:p>
          <a:p>
            <a:pPr>
              <a:spcAft>
                <a:spcPts val="11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Provos &amp; Mazières — A Future-Adaptable Password Scheme (USENIX Security, 1999).</a:t>
            </a:r>
          </a:p>
          <a:p>
            <a:pPr>
              <a:spcAft>
                <a:spcPts val="11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Birkett, A. — Secure Authentication &amp; Password Hashing Best Practices, IEEE S&amp;P 21(3), 2023.</a:t>
            </a:r>
          </a:p>
          <a:p>
            <a:pPr>
              <a:spcAft>
                <a:spcPts val="1100"/>
              </a:spcAft>
            </a:pPr>
            <a:r>
              <a:rPr sz="1250">
                <a:solidFill>
                  <a:srgbClr val="0B1F3A"/>
                </a:solidFill>
                <a:latin typeface="Segoe UI"/>
              </a:rPr>
              <a:t>▸ Thiranex Skill Development &amp; Future Tech — Internship Program Docs &amp; Guidelines.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B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6858000"/>
          </a:xfrm>
          <a:prstGeom prst="rect">
            <a:avLst/>
          </a:prstGeom>
          <a:solidFill>
            <a:srgbClr val="1F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4B641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3977639"/>
            <a:ext cx="2286000" cy="254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Segoe UI"/>
              </a:rPr>
              <a:t>Priyanshu Pandey  •  25SCS100300539  •  B.Tech CSE (2CSE24)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9C8DC"/>
                </a:solidFill>
                <a:latin typeface="Segoe UI"/>
              </a:rPr>
              <a:t>School of Computer Science &amp; Engineering, IILM University, Greater Noida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9C8DC"/>
                </a:solidFill>
                <a:latin typeface="Segoe UI"/>
              </a:rPr>
              <a:t>Cyber Security Internship @ Thiranex  •  Aug–Sept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55F6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